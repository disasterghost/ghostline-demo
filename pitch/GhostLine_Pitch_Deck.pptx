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GHOSTLINE</a:t>
            </a:r>
            <a:r>
              <a:rPr sz="1100" b="0" i="0">
                <a:solidFill>
                  <a:srgbClr val="5A6478"/>
                </a:solidFill>
                <a:latin typeface="JetBrains Mono"/>
              </a:rPr>
              <a:t>    ·    </a:t>
            </a:r>
            <a:r>
              <a:rPr sz="1100" b="0" i="0" spc="150">
                <a:solidFill>
                  <a:srgbClr val="8A96AA"/>
                </a:solidFill>
                <a:latin typeface="JetBrains Mono"/>
              </a:rPr>
              <a:t>INSTRUMENT BUILD 04</a:t>
            </a:r>
            <a:r>
              <a:rPr sz="1100" b="0" i="0">
                <a:solidFill>
                  <a:srgbClr val="5A6478"/>
                </a:solidFill>
                <a:latin typeface="JetBrains Mono"/>
              </a:rPr>
              <a:t>    ·    </a:t>
            </a:r>
            <a:r>
              <a:rPr sz="1100" b="0" i="0" spc="150">
                <a:solidFill>
                  <a:srgbClr val="8A96AA"/>
                </a:solidFill>
                <a:latin typeface="JetBrains Mono"/>
              </a:rPr>
              <a:t>APR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320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150">
                <a:solidFill>
                  <a:srgbClr val="8A96AA"/>
                </a:solidFill>
                <a:latin typeface="JetBrains Mono"/>
              </a:rPr>
              <a:t>CONFIDENTIAL</a:t>
            </a:r>
          </a:p>
        </p:txBody>
      </p:sp>
      <p:pic>
        <p:nvPicPr>
          <p:cNvPr id="5" name="Picture 4" descr="cove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02920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08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E4ECF7"/>
                </a:solidFill>
                <a:latin typeface="JetBrains Mono"/>
              </a:rPr>
              <a:t>REAL-TIME GEOMETRIC MONITORING FOR LLM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0" i="0">
                <a:solidFill>
                  <a:srgbClr val="E4ECF7"/>
                </a:solidFill>
                <a:latin typeface="Space Grotesk"/>
              </a:rPr>
              <a:t>GhostLine</a:t>
            </a:r>
            <a:r>
              <a:rPr sz="9600" b="1" i="0">
                <a:solidFill>
                  <a:srgbClr val="3EE887"/>
                </a:solidFill>
                <a:latin typeface="Space Grotesk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JetBrains Mono"/>
              </a:rPr>
              <a:t>Collin Civish</a:t>
            </a:r>
            <a:r>
              <a:rPr sz="1200" b="0" i="0">
                <a:solidFill>
                  <a:srgbClr val="5A6478"/>
                </a:solidFill>
                <a:latin typeface="JetBrains Mono"/>
              </a:rPr>
              <a:t>    /    </a:t>
            </a:r>
            <a:r>
              <a:rPr sz="1200" b="0" i="0">
                <a:solidFill>
                  <a:srgbClr val="8A96AA"/>
                </a:solidFill>
                <a:latin typeface="JetBrains Mono"/>
              </a:rPr>
              <a:t>Independent inventor</a:t>
            </a:r>
            <a:r>
              <a:rPr sz="1200" b="0" i="0">
                <a:solidFill>
                  <a:srgbClr val="5A6478"/>
                </a:solidFill>
                <a:latin typeface="JetBrains Mono"/>
              </a:rPr>
              <a:t>    /    </a:t>
            </a:r>
            <a:r>
              <a:rPr sz="1200" b="0" i="0">
                <a:solidFill>
                  <a:srgbClr val="8A96AA"/>
                </a:solidFill>
                <a:latin typeface="JetBrains Mono"/>
              </a:rPr>
              <a:t>Pilot &amp; partnership solicitation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26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001 / 015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THE STATE OF THE 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The black box at inference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5486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E4ECF7"/>
                </a:solidFill>
                <a:latin typeface="Space Grotesk"/>
              </a:rPr>
              <a:t>Every deployed language model is opaque while it computes. We send a prompt, wait for output, and evaluate the text after the fact.</a:t>
            </a:r>
          </a:p>
          <a:p>
            <a:pPr algn="l"/>
            <a:r>
              <a:rPr sz="1600" b="0" i="0">
                <a:solidFill>
                  <a:srgbClr val="E4ECF7"/>
                </a:solidFill>
                <a:latin typeface="Space Grotesk"/>
              </a:rPr>
              <a:t>If the model reasons well, we got lucky. If it hallucinates, loops, or goes off-track, we find out from the output — too late to prevent, too opaque to understand.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0" y="2194560"/>
            <a:ext cx="0" cy="320040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7512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WHAT EXISTS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0604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Static attention heatmaps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8986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Post-hoc feature attributions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1912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Probing classifiers,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483864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Behavioral evals, after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1480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Research instruments. Designed to explain what already happened — not to monitor what is happening, and never what is about to happen.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THE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0" i="1">
                <a:solidFill>
                  <a:srgbClr val="E4ECF7"/>
                </a:solidFill>
                <a:latin typeface="Newsreader"/>
              </a:rPr>
              <a:t>When a transformer processes text, its activations form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1">
                <a:solidFill>
                  <a:srgbClr val="E4ECF7"/>
                </a:solidFill>
                <a:latin typeface="Newsreader"/>
              </a:rPr>
              <a:t>When a transformer processes text, its activations form </a:t>
            </a:r>
            <a:r>
              <a:rPr sz="3600" b="0" i="1">
                <a:solidFill>
                  <a:srgbClr val="3EE887"/>
                </a:solidFill>
                <a:latin typeface="Newsreader"/>
              </a:rPr>
              <a:t>geometric shapes</a:t>
            </a:r>
            <a:r>
              <a:rPr sz="3600" b="0" i="1">
                <a:solidFill>
                  <a:srgbClr val="E4ECF7"/>
                </a:solidFill>
                <a:latin typeface="Newsreader"/>
              </a:rPr>
              <a:t>. Reasoning has a different shape than recall. Hallucination has a different shape than honest </a:t>
            </a:r>
            <a:r>
              <a:rPr sz="3600" b="0" i="1">
                <a:solidFill>
                  <a:srgbClr val="3EE887"/>
                </a:solidFill>
                <a:latin typeface="Newsreader"/>
              </a:rPr>
              <a:t>"I don’t know."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These shapes are readable, reproducible, and — the part that matters — they are determined </a:t>
            </a:r>
            <a:r>
              <a:rPr sz="1100" b="1" i="0">
                <a:solidFill>
                  <a:srgbClr val="3EE887"/>
                </a:solidFill>
                <a:latin typeface="JetBrains Mono"/>
              </a:rPr>
              <a:t>before</a:t>
            </a:r>
            <a:r>
              <a:rPr sz="1100" b="0" i="0">
                <a:solidFill>
                  <a:srgbClr val="8A96AA"/>
                </a:solidFill>
                <a:latin typeface="JetBrains Mono"/>
              </a:rPr>
              <a:t> the model generates a single word.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SIGNATURES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FIVE DISTINCT GEOMETRIC SIGNATURES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Reading what the model is doing.</a:t>
            </a:r>
          </a:p>
        </p:txBody>
      </p:sp>
      <p:sp>
        <p:nvSpPr>
          <p:cNvPr id="7" name="Oval 6"/>
          <p:cNvSpPr/>
          <p:nvPr/>
        </p:nvSpPr>
        <p:spPr>
          <a:xfrm>
            <a:off x="1383822" y="2336836"/>
            <a:ext cx="91440" cy="91440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16280" y="2300362"/>
            <a:ext cx="64008" cy="64008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994" y="2488067"/>
            <a:ext cx="64008" cy="64008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7228" y="2578795"/>
            <a:ext cx="64008" cy="64008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0981" y="2531564"/>
            <a:ext cx="64008" cy="64008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1539" y="2298344"/>
            <a:ext cx="91440" cy="91440"/>
          </a:xfrm>
          <a:prstGeom prst="ellipse">
            <a:avLst/>
          </a:prstGeom>
          <a:solidFill>
            <a:srgbClr val="5CF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39281" y="2783247"/>
            <a:ext cx="64008" cy="64008"/>
          </a:xfrm>
          <a:prstGeom prst="ellipse">
            <a:avLst/>
          </a:prstGeom>
          <a:solidFill>
            <a:srgbClr val="5CF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54315" y="2396887"/>
            <a:ext cx="64008" cy="64008"/>
          </a:xfrm>
          <a:prstGeom prst="ellipse">
            <a:avLst/>
          </a:prstGeom>
          <a:solidFill>
            <a:srgbClr val="5CF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999042" y="2860605"/>
            <a:ext cx="64008" cy="64008"/>
          </a:xfrm>
          <a:prstGeom prst="ellipse">
            <a:avLst/>
          </a:prstGeom>
          <a:solidFill>
            <a:srgbClr val="5CF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34612" y="2507904"/>
            <a:ext cx="64008" cy="64008"/>
          </a:xfrm>
          <a:prstGeom prst="ellipse">
            <a:avLst/>
          </a:prstGeom>
          <a:solidFill>
            <a:srgbClr val="5CF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44722" y="2270097"/>
            <a:ext cx="91440" cy="91440"/>
          </a:xfrm>
          <a:prstGeom prst="ellipse">
            <a:avLst/>
          </a:prstGeom>
          <a:solidFill>
            <a:srgbClr val="B4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07652" y="2439370"/>
            <a:ext cx="64008" cy="64008"/>
          </a:xfrm>
          <a:prstGeom prst="ellipse">
            <a:avLst/>
          </a:prstGeom>
          <a:solidFill>
            <a:srgbClr val="B4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93346" y="2329393"/>
            <a:ext cx="64008" cy="64008"/>
          </a:xfrm>
          <a:prstGeom prst="ellipse">
            <a:avLst/>
          </a:prstGeom>
          <a:solidFill>
            <a:srgbClr val="B4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03583" y="2776382"/>
            <a:ext cx="64008" cy="64008"/>
          </a:xfrm>
          <a:prstGeom prst="ellipse">
            <a:avLst/>
          </a:prstGeom>
          <a:solidFill>
            <a:srgbClr val="B4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40035" y="2626266"/>
            <a:ext cx="64008" cy="64008"/>
          </a:xfrm>
          <a:prstGeom prst="ellipse">
            <a:avLst/>
          </a:prstGeom>
          <a:solidFill>
            <a:srgbClr val="B4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25719" y="2478645"/>
            <a:ext cx="91440" cy="91440"/>
          </a:xfrm>
          <a:prstGeom prst="ellipse">
            <a:avLst/>
          </a:prstGeom>
          <a:solidFill>
            <a:srgbClr val="FFD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22724" y="2294186"/>
            <a:ext cx="64008" cy="64008"/>
          </a:xfrm>
          <a:prstGeom prst="ellipse">
            <a:avLst/>
          </a:prstGeom>
          <a:solidFill>
            <a:srgbClr val="FFD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97824" y="2385827"/>
            <a:ext cx="64008" cy="64008"/>
          </a:xfrm>
          <a:prstGeom prst="ellipse">
            <a:avLst/>
          </a:prstGeom>
          <a:solidFill>
            <a:srgbClr val="FFD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92544" y="2527690"/>
            <a:ext cx="64008" cy="64008"/>
          </a:xfrm>
          <a:prstGeom prst="ellipse">
            <a:avLst/>
          </a:prstGeom>
          <a:solidFill>
            <a:srgbClr val="FFD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23683" y="2628802"/>
            <a:ext cx="64008" cy="64008"/>
          </a:xfrm>
          <a:prstGeom prst="ellipse">
            <a:avLst/>
          </a:prstGeom>
          <a:solidFill>
            <a:srgbClr val="FFD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400805" y="2432155"/>
            <a:ext cx="91440" cy="91440"/>
          </a:xfrm>
          <a:prstGeom prst="ellipse">
            <a:avLst/>
          </a:prstGeom>
          <a:solidFill>
            <a:srgbClr val="FF9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51304" y="2701408"/>
            <a:ext cx="64008" cy="64008"/>
          </a:xfrm>
          <a:prstGeom prst="ellipse">
            <a:avLst/>
          </a:prstGeom>
          <a:solidFill>
            <a:srgbClr val="FF9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6855" y="2621673"/>
            <a:ext cx="64008" cy="64008"/>
          </a:xfrm>
          <a:prstGeom prst="ellipse">
            <a:avLst/>
          </a:prstGeom>
          <a:solidFill>
            <a:srgbClr val="FF9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06707" y="2814154"/>
            <a:ext cx="64008" cy="64008"/>
          </a:xfrm>
          <a:prstGeom prst="ellipse">
            <a:avLst/>
          </a:prstGeom>
          <a:solidFill>
            <a:srgbClr val="FF9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8178" y="2438300"/>
            <a:ext cx="64008" cy="64008"/>
          </a:xfrm>
          <a:prstGeom prst="ellipse">
            <a:avLst/>
          </a:prstGeom>
          <a:solidFill>
            <a:srgbClr val="FF9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291840"/>
            <a:ext cx="2121408" cy="27432"/>
          </a:xfrm>
          <a:prstGeom prst="rect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383280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4DD9FF"/>
                </a:solidFill>
                <a:latin typeface="JetBrains Mono"/>
              </a:rPr>
              <a:t>01 / </a:t>
            </a:r>
            <a:r>
              <a:rPr sz="1200" b="1" i="0" spc="150">
                <a:solidFill>
                  <a:srgbClr val="4DD9FF"/>
                </a:solidFill>
                <a:latin typeface="JetBrains Mono"/>
              </a:rPr>
              <a:t>REASONING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749040"/>
            <a:ext cx="21214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6AA"/>
                </a:solidFill>
                <a:latin typeface="Space Grotesk"/>
              </a:rPr>
              <a:t>High dimensional spread. Structured velocity. Consistent attention.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61488" y="3291840"/>
            <a:ext cx="2121408" cy="27432"/>
          </a:xfrm>
          <a:prstGeom prst="rect">
            <a:avLst/>
          </a:prstGeom>
          <a:solidFill>
            <a:srgbClr val="5CF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61488" y="3383280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CF2A8"/>
                </a:solidFill>
                <a:latin typeface="JetBrains Mono"/>
              </a:rPr>
              <a:t>02 / </a:t>
            </a:r>
            <a:r>
              <a:rPr sz="1200" b="1" i="0" spc="150">
                <a:solidFill>
                  <a:srgbClr val="5CF2A8"/>
                </a:solidFill>
                <a:latin typeface="JetBrains Mono"/>
              </a:rPr>
              <a:t>RETRIEVAL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61488" y="3749040"/>
            <a:ext cx="21214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6AA"/>
                </a:solidFill>
                <a:latin typeface="Space Grotesk"/>
              </a:rPr>
              <a:t>Concentrated dimensions. Fast convergence. Sequence-start focus.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74336" y="3291840"/>
            <a:ext cx="2121408" cy="27432"/>
          </a:xfrm>
          <a:prstGeom prst="rect">
            <a:avLst/>
          </a:prstGeom>
          <a:solidFill>
            <a:srgbClr val="B4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74336" y="3383280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66FF"/>
                </a:solidFill>
                <a:latin typeface="JetBrains Mono"/>
              </a:rPr>
              <a:t>03 / </a:t>
            </a:r>
            <a:r>
              <a:rPr sz="1200" b="1" i="0" spc="150">
                <a:solidFill>
                  <a:srgbClr val="B466FF"/>
                </a:solidFill>
                <a:latin typeface="JetBrains Mono"/>
              </a:rPr>
              <a:t>CREATIVITY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74336" y="3749040"/>
            <a:ext cx="21214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6AA"/>
                </a:solidFill>
                <a:latin typeface="Space Grotesk"/>
              </a:rPr>
              <a:t>Widest dimensional spread. Exploratory attention.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87184" y="3291840"/>
            <a:ext cx="2121408" cy="27432"/>
          </a:xfrm>
          <a:prstGeom prst="rect">
            <a:avLst/>
          </a:prstGeom>
          <a:solidFill>
            <a:srgbClr val="FFD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87184" y="3383280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D24D"/>
                </a:solidFill>
                <a:latin typeface="JetBrains Mono"/>
              </a:rPr>
              <a:t>04 / </a:t>
            </a:r>
            <a:r>
              <a:rPr sz="1200" b="1" i="0" spc="150">
                <a:solidFill>
                  <a:srgbClr val="FFD24D"/>
                </a:solidFill>
                <a:latin typeface="JetBrains Mono"/>
              </a:rPr>
              <a:t>PRECISION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87184" y="3749040"/>
            <a:ext cx="21214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6AA"/>
                </a:solidFill>
                <a:latin typeface="Space Grotesk"/>
              </a:rPr>
              <a:t>Highest per-token focus. Moderate trajectory spread.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00032" y="3291840"/>
            <a:ext cx="2121408" cy="27432"/>
          </a:xfrm>
          <a:prstGeom prst="rect">
            <a:avLst/>
          </a:prstGeom>
          <a:solidFill>
            <a:srgbClr val="FF9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00032" y="3383280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9C52"/>
                </a:solidFill>
                <a:latin typeface="JetBrains Mono"/>
              </a:rPr>
              <a:t>05 / </a:t>
            </a:r>
            <a:r>
              <a:rPr sz="1200" b="1" i="0" spc="150">
                <a:solidFill>
                  <a:srgbClr val="FF9C52"/>
                </a:solidFill>
                <a:latin typeface="JetBrains Mono"/>
              </a:rPr>
              <a:t>UNCERTAINTY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00032" y="3749040"/>
            <a:ext cx="21214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6AA"/>
                </a:solidFill>
                <a:latin typeface="Space Grotesk"/>
              </a:rPr>
              <a:t>Clean geometry, low magnitude — the signature of honest “I don’t know.”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Not post-hoc labels. Predictive signatures that emerge during prompt encoding.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HEADLINE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PRE-GENERATION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6400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E4ECF7"/>
                </a:solidFill>
                <a:latin typeface="Space Grotesk"/>
              </a:rPr>
              <a:t>Behavioral state is decided before the first token.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9436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E4ECF7"/>
                </a:solidFill>
                <a:latin typeface="Space Grotesk"/>
              </a:rPr>
              <a:t>On 8B-class transformers, a single forward pass through the prompt — prior to any token generation — predicts the model's behavioral state across five categories.</a:t>
            </a:r>
          </a:p>
          <a:p>
            <a:pPr algn="l"/>
            <a:r>
              <a:rPr sz="1100" b="0" i="1">
                <a:solidFill>
                  <a:srgbClr val="8A96AA"/>
                </a:solidFill>
                <a:latin typeface="Space Grotesk"/>
              </a:rPr>
              <a:t>— Prompt-level grouped cross-validation. Entire prompts held out from training. 23 pp above the next-best text-feature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0584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0" i="0">
                <a:solidFill>
                  <a:srgbClr val="E4ECF7"/>
                </a:solidFill>
                <a:latin typeface="Space Grotesk"/>
              </a:rPr>
              <a:t>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00584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0" i="0">
                <a:solidFill>
                  <a:srgbClr val="3EE887"/>
                </a:solidFill>
                <a:latin typeface="Space Grotesk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FIVE-STATE CLASSIFIER  ·  QWEN3-8B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8404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 i="0">
                <a:solidFill>
                  <a:srgbClr val="E4ECF7"/>
                </a:solidFill>
                <a:latin typeface="Space Grotesk"/>
              </a:rPr>
              <a:t>86.5</a:t>
            </a:r>
            <a:r>
              <a:rPr sz="5000" b="0" i="0">
                <a:solidFill>
                  <a:srgbClr val="E4ECF7"/>
                </a:solidFill>
                <a:latin typeface="Space Grotesk"/>
              </a:rPr>
              <a:t>–</a:t>
            </a:r>
            <a:r>
              <a:rPr sz="5000" b="0" i="0">
                <a:solidFill>
                  <a:srgbClr val="E4ECF7"/>
                </a:solidFill>
                <a:latin typeface="Space Grotesk"/>
              </a:rPr>
              <a:t>91.3</a:t>
            </a:r>
            <a:r>
              <a:rPr sz="5000" b="0" i="0">
                <a:solidFill>
                  <a:srgbClr val="3EE887"/>
                </a:solidFill>
                <a:latin typeface="Space Grotesk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983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PROMPT-ONLY  ·  QWEN3-8B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384048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 i="0">
                <a:solidFill>
                  <a:srgbClr val="E4ECF7"/>
                </a:solidFill>
                <a:latin typeface="Space Grotesk"/>
              </a:rPr>
              <a:t>85.0</a:t>
            </a:r>
            <a:r>
              <a:rPr sz="5000" b="0" i="0">
                <a:solidFill>
                  <a:srgbClr val="3EE887"/>
                </a:solidFill>
                <a:latin typeface="Space Grotesk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49834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PROMPT-ONLY  ·  LLAMA 3B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HALLUCINATION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THREE REGIMES, ONE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06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Hallucination has its own geometry.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377440"/>
            <a:ext cx="1106424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6060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50">
                <a:solidFill>
                  <a:srgbClr val="8A96AA"/>
                </a:solidFill>
                <a:latin typeface="JetBrains Mono"/>
              </a:rPr>
              <a:t>ENSEMBLE  ·  HELD-OUT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E4ECF7"/>
                </a:solidFill>
                <a:latin typeface="Space Grotesk"/>
              </a:rPr>
              <a:t>0.94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F1 with grouped cross-validation on Qwen3-8B.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6060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50">
                <a:solidFill>
                  <a:srgbClr val="8A96AA"/>
                </a:solidFill>
                <a:latin typeface="JetBrains Mono"/>
              </a:rPr>
              <a:t>REAL-WORLD STRESS  ·  300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15468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E4ECF7"/>
                </a:solidFill>
                <a:latin typeface="Space Grotesk"/>
              </a:rPr>
              <a:t>0.94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5720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Manually labeled, drawn from production-like prompts.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6060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50">
                <a:solidFill>
                  <a:srgbClr val="8A96AA"/>
                </a:solidFill>
                <a:latin typeface="JetBrains Mono"/>
              </a:rPr>
              <a:t>LIVE RINGER  ·  FRESH HOLD-OUT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15468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E4ECF7"/>
                </a:solidFill>
                <a:latin typeface="Space Grotesk"/>
              </a:rPr>
              <a:t>0.89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5720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Different validation regime, same model — the signal holds.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— Fabrication carries a </a:t>
            </a:r>
            <a:r>
              <a:rPr sz="1100" b="1" i="0">
                <a:solidFill>
                  <a:srgbClr val="E4ECF7"/>
                </a:solidFill>
                <a:latin typeface="JetBrains Mono"/>
              </a:rPr>
              <a:t>geometrically diffuse</a:t>
            </a:r>
            <a:r>
              <a:rPr sz="1100" b="0" i="0">
                <a:solidFill>
                  <a:srgbClr val="8A96AA"/>
                </a:solidFill>
                <a:latin typeface="JetBrains Mono"/>
              </a:rPr>
              <a:t> signature distinct from healthy retrieval — eff_dim 67–70 vs 53–55. Not collapse; structurally different.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SIX MODELS  ·  FOUR FAMILIES  ·  TWO SCALES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07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E4ECF7"/>
                </a:solidFill>
                <a:latin typeface="Space Grotesk"/>
              </a:rPr>
              <a:t>It generalizes — and gets sharper with scale.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13232" y="2542032"/>
            <a:ext cx="128016" cy="128016"/>
          </a:xfrm>
          <a:prstGeom prst="ellipse">
            <a:avLst/>
          </a:prstGeom>
          <a:solidFill>
            <a:srgbClr val="3EE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41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Llama 3.2 3B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37744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90672" y="2542032"/>
            <a:ext cx="128016" cy="128016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441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Llama 3.1 8B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3232" y="3182112"/>
            <a:ext cx="128016" cy="128016"/>
          </a:xfrm>
          <a:prstGeom prst="ellipse">
            <a:avLst/>
          </a:prstGeom>
          <a:solidFill>
            <a:srgbClr val="3EE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081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Pythia 2.8B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301752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90672" y="3182112"/>
            <a:ext cx="128016" cy="128016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3081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Qwen 2.5 3B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5760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822192"/>
            <a:ext cx="128016" cy="128016"/>
          </a:xfrm>
          <a:prstGeom prst="ellipse">
            <a:avLst/>
          </a:prstGeom>
          <a:solidFill>
            <a:srgbClr val="FFD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7216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Gemma 3 4B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26080" y="365760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90672" y="3822192"/>
            <a:ext cx="128016" cy="128016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37216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Qwen3 8B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7548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Velocity-of-representation dominates the classifier at 3B. Attention entropy takes over at 8B.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675120" y="2286000"/>
            <a:ext cx="0" cy="320040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949440" y="237744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0" i="0">
                <a:solidFill>
                  <a:srgbClr val="3EE887"/>
                </a:solidFill>
                <a:latin typeface="Space Grotesk"/>
              </a:rPr>
              <a:t>3</a:t>
            </a:r>
            <a:r>
              <a:rPr sz="8000" b="0" i="0">
                <a:solidFill>
                  <a:srgbClr val="3EE887"/>
                </a:solidFill>
                <a:latin typeface="Space Grotesk"/>
              </a:rPr>
              <a:t>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36576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GEOMETRIC SEPARATION BETWEEN STATES, 3B → 8B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29768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E4ECF7"/>
                </a:solidFill>
                <a:latin typeface="Space Grotesk"/>
              </a:rPr>
              <a:t>+</a:t>
            </a:r>
            <a:r>
              <a:rPr sz="8800" b="0" i="0">
                <a:solidFill>
                  <a:srgbClr val="3EE887"/>
                </a:solidFill>
                <a:latin typeface="Space Grotesk"/>
              </a:rPr>
              <a:t>new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486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SIGNAL FAMILIES THAT EMERGE ONLY AT SCALE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CAUSAL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CAUSAL INTERVENTION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08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6858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E4ECF7"/>
                </a:solidFill>
                <a:latin typeface="Space Grotesk"/>
              </a:rPr>
              <a:t>Small geometric pushes change what the model says.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E4ECF7"/>
                </a:solidFill>
                <a:latin typeface="Space Grotesk"/>
              </a:rPr>
              <a:t>On Llama 3B, nine anti-momentum perturbations injected at the earliest transformer layer — gated to fire only during detected geometric collapse — broke a deterministic output loop and produced novel content the model was never prompted to produce.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3484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4ECF7"/>
                </a:solidFill>
                <a:latin typeface="Space Grotesk"/>
              </a:rPr>
              <a:t>Compared against random-noise controls of equal magnitude, geometric direction outperformed by </a:t>
            </a:r>
            <a:r>
              <a:rPr sz="1400" b="1" i="0">
                <a:solidFill>
                  <a:srgbClr val="3EE887"/>
                </a:solidFill>
                <a:latin typeface="Space Grotesk"/>
              </a:rPr>
              <a:t>9 percentage points. </a:t>
            </a:r>
            <a:r>
              <a:rPr sz="1400" b="1" i="0">
                <a:solidFill>
                  <a:srgbClr val="E4ECF7"/>
                </a:solidFill>
                <a:latin typeface="Space Grotesk"/>
              </a:rPr>
              <a:t>Direction</a:t>
            </a:r>
            <a:r>
              <a:rPr sz="1400" b="0" i="0">
                <a:solidFill>
                  <a:srgbClr val="E4ECF7"/>
                </a:solidFill>
                <a:latin typeface="Space Grotesk"/>
              </a:rPr>
              <a:t> — not just magnitude — carries the causal weight.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6AA"/>
                </a:solidFill>
                <a:latin typeface="JetBrains Mono"/>
              </a:rPr>
              <a:t>— Honest scope: validated at 3B. Collapse threshold doesn't transfer to 8B without recalibration — open work item. Hallucination-specific intervention is an early-stage signal.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468880"/>
            <a:ext cx="4206240" cy="960120"/>
          </a:xfrm>
          <a:prstGeom prst="rect">
            <a:avLst/>
          </a:prstGeom>
          <a:solidFill>
            <a:srgbClr val="06080C"/>
          </a:solidFill>
          <a:ln w="12700">
            <a:solidFill>
              <a:srgbClr val="E8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5603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E85C5C"/>
                </a:solidFill>
                <a:latin typeface="JetBrains Mono"/>
              </a:rPr>
              <a:t>BEFORE  ·  COLLAPSE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880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85C5C"/>
                </a:solidFill>
                <a:latin typeface="JetBrains Mono"/>
              </a:rPr>
              <a:t>123 123 123 123 123 123 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6118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8A96AA"/>
                </a:solidFill>
                <a:latin typeface="JetBrains Mono"/>
              </a:rPr>
              <a:t>↓   </a:t>
            </a:r>
            <a:r>
              <a:rPr sz="1200" b="0" i="0" spc="150">
                <a:solidFill>
                  <a:srgbClr val="3EE887"/>
                </a:solidFill>
                <a:latin typeface="JetBrains Mono"/>
              </a:rPr>
              <a:t>9 PERTURBATIONS</a:t>
            </a:r>
            <a:r>
              <a:rPr sz="1400" b="0" i="0">
                <a:solidFill>
                  <a:srgbClr val="8A96AA"/>
                </a:solidFill>
                <a:latin typeface="JetBrains Mono"/>
              </a:rPr>
              <a:t>   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160520"/>
            <a:ext cx="4206240" cy="960120"/>
          </a:xfrm>
          <a:prstGeom prst="rect">
            <a:avLst/>
          </a:prstGeom>
          <a:solidFill>
            <a:srgbClr val="06080C"/>
          </a:solidFill>
          <a:ln w="12700">
            <a:solidFill>
              <a:srgbClr val="3EE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425196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3EE887"/>
                </a:solidFill>
                <a:latin typeface="JetBrains Mono"/>
              </a:rPr>
              <a:t>AFTER  ·  LOOP BROKEN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57200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4ECF7"/>
                </a:solidFill>
                <a:latin typeface="JetBrains Mono"/>
              </a:rPr>
              <a:t>Novel, unprompted content — including
meta-commentary on its own situation.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CROSS-ARCHITECTURE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THE CHAIN-OF-THOUGHT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09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E4ECF7"/>
                </a:solidFill>
                <a:latin typeface="Space Grotesk"/>
              </a:rPr>
              <a:t>Thinking is itself a geometric self-intervention.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377440"/>
            <a:ext cx="7498079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60604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3EE887"/>
                </a:solidFill>
                <a:latin typeface="JetBrains Mono"/>
              </a:rPr>
              <a:t>QWEN3-8B  ·  THINKING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3EE887"/>
                </a:solidFill>
                <a:latin typeface="Space Grotesk"/>
              </a:rPr>
              <a:t>~0%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6AA"/>
                </a:solidFill>
                <a:latin typeface="Space Grotesk"/>
              </a:rPr>
              <a:t>fabrication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0604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E85C5C"/>
                </a:solidFill>
                <a:latin typeface="JetBrains Mono"/>
              </a:rPr>
              <a:t>QWEN3-8B  ·  THINKING 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11480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E85C5C"/>
                </a:solidFill>
                <a:latin typeface="Space Grotesk"/>
              </a:rPr>
              <a:t>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52120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6AA"/>
                </a:solidFill>
                <a:latin typeface="Space Grotesk"/>
              </a:rPr>
              <a:t>fabrication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60604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E4ECF7"/>
                </a:solidFill>
                <a:latin typeface="JetBrains Mono"/>
              </a:rPr>
              <a:t>LLAMA 3.1 8B  ·  NO THINKING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11480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E4ECF7"/>
                </a:solidFill>
                <a:latin typeface="Space Grotesk"/>
              </a:rPr>
              <a:t>78%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52120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6AA"/>
                </a:solidFill>
                <a:latin typeface="Space Grotesk"/>
              </a:rPr>
              <a:t>fabrication rate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79" y="2286000"/>
            <a:ext cx="0" cy="320040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0" y="260604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E4ECF7"/>
                </a:solidFill>
                <a:latin typeface="Newsreader"/>
              </a:rPr>
              <a:t>Hallucination resistance is </a:t>
            </a:r>
            <a:r>
              <a:rPr sz="1700" b="0" i="1">
                <a:solidFill>
                  <a:srgbClr val="3EE887"/>
                </a:solidFill>
                <a:latin typeface="Newsreader"/>
              </a:rPr>
              <a:t>training-dependent</a:t>
            </a:r>
            <a:r>
              <a:rPr sz="1700" b="0" i="1">
                <a:solidFill>
                  <a:srgbClr val="E4ECF7"/>
                </a:solidFill>
                <a:latin typeface="Newsreader"/>
              </a:rPr>
              <a:t>, not scale-dependent.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11480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Same weights. Same prompts. Toggling structured reasoning reshapes prompt-time activation geometry away from the hallucination basin.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THE INSTRUMENT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A WORKING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10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Watch the model think, in real time.</a:t>
            </a:r>
          </a:p>
        </p:txBody>
      </p:sp>
      <p:pic>
        <p:nvPicPr>
          <p:cNvPr id="7" name="Picture 6" descr="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31520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23774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WHAT YOU SEE</a:t>
            </a:r>
          </a:p>
        </p:txBody>
      </p:sp>
      <p:sp>
        <p:nvSpPr>
          <p:cNvPr id="9" name="Oval 8"/>
          <p:cNvSpPr/>
          <p:nvPr/>
        </p:nvSpPr>
        <p:spPr>
          <a:xfrm>
            <a:off x="8412480" y="2880360"/>
            <a:ext cx="109728" cy="109728"/>
          </a:xfrm>
          <a:prstGeom prst="ellipse">
            <a:avLst/>
          </a:prstGeom>
          <a:solidFill>
            <a:srgbClr val="3EE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27889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Space Grotesk"/>
              </a:rPr>
              <a:t>Tokens, positioned by activation geometry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0" y="3383280"/>
            <a:ext cx="109728" cy="109728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32918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Space Grotesk"/>
              </a:rPr>
              <a:t>Attention arcs to attended context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0" y="3886200"/>
            <a:ext cx="109728" cy="109728"/>
          </a:xfrm>
          <a:prstGeom prst="ellipse">
            <a:avLst/>
          </a:prstGeom>
          <a:solidFill>
            <a:srgbClr val="FFD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1080" y="379476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Space Grotesk"/>
              </a:rPr>
              <a:t>Spectrograph: 5 per-token signal streams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0" y="4389120"/>
            <a:ext cx="109728" cy="109728"/>
          </a:xfrm>
          <a:prstGeom prst="ellipse">
            <a:avLst/>
          </a:prstGeom>
          <a:solidFill>
            <a:srgbClr val="B4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1080" y="429768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Space Grotesk"/>
              </a:rPr>
              <a:t>Depth explorer: layer-by-layer traversal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937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PROJECTION  ·  SCL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25780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4ECF7"/>
                </a:solidFill>
                <a:latin typeface="JetBrains Mono"/>
              </a:rPr>
              <a:t>75–90 linear params per layer</a:t>
            </a:r>
          </a:p>
          <a:p>
            <a:pPr algn="l"/>
            <a:r>
              <a:rPr sz="1150" b="0" i="0">
                <a:solidFill>
                  <a:srgbClr val="E4ECF7"/>
                </a:solidFill>
                <a:latin typeface="JetBrains Mono"/>
              </a:rPr>
              <a:t>~100× faster than UMAP</a:t>
            </a:r>
          </a:p>
          <a:p>
            <a:pPr algn="l"/>
            <a:r>
              <a:rPr sz="1150" b="0" i="0">
                <a:solidFill>
                  <a:srgbClr val="E4ECF7"/>
                </a:solidFill>
                <a:latin typeface="JetBrains Mono"/>
              </a:rPr>
              <a:t>Trajectory fidelity r = 0.977 @ 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263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3EE887"/>
                </a:solidFill>
                <a:latin typeface="JetBrains Mono"/>
              </a:rPr>
              <a:t>AVAILABLE NOW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FIVE BUCKETS  ·  ORDERED BY DEPLOYMENT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11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Where it earns its keep.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96AA"/>
                </a:solidFill>
                <a:latin typeface="JetBrains Mono"/>
              </a:rPr>
              <a:t>01 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3EE887"/>
                </a:solidFill>
                <a:latin typeface="JetBrains Mono"/>
              </a:rPr>
              <a:t>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86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4ECF7"/>
                </a:solidFill>
                <a:latin typeface="Space Grotesk"/>
              </a:rPr>
              <a:t>Compliance &amp; audit trails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151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Per-token behavioral state classification with replayable trajectory logs. Aligned to EU AI Act Articles 9 &amp; 12 and the NIST AI Risk Management Framework.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632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96AA"/>
                </a:solidFill>
                <a:latin typeface="JetBrains Mono"/>
              </a:rPr>
              <a:t>02 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5584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3EE887"/>
                </a:solidFill>
                <a:latin typeface="JetBrains Mono"/>
              </a:rPr>
              <a:t>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3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4ECF7"/>
                </a:solidFill>
                <a:latin typeface="Space Grotesk"/>
              </a:rPr>
              <a:t>Inference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9242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Pre-generation prediction makes routing decisions before any output exists. Gate expensive chain-of-thought on prompts that need it. Drop-in routing layer.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96AA"/>
                </a:solidFill>
                <a:latin typeface="JetBrains Mono"/>
              </a:rPr>
              <a:t>03 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3308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4DD9FF"/>
                </a:solidFill>
                <a:latin typeface="JetBrains Mono"/>
              </a:rPr>
              <a:t>RESEARCH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40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4ECF7"/>
                </a:solidFill>
                <a:latin typeface="Space Grotesk"/>
              </a:rPr>
              <a:t>Defense &amp; adversarial robustness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6966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Geometric monitoring is content-independent. Adversaries can craft text that bypasses content filters, but cannot easily control the geometry of internal computation.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617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96AA"/>
                </a:solidFill>
                <a:latin typeface="JetBrains Mono"/>
              </a:rPr>
              <a:t>04 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1032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4DD9FF"/>
                </a:solidFill>
                <a:latin typeface="JetBrains Mono"/>
              </a:rPr>
              <a:t>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4ECF7"/>
                </a:solidFill>
                <a:latin typeface="Space Grotesk"/>
              </a:rPr>
              <a:t>Model development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94690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Compare fine-tunes objectively by behavioral-state separation, not benchmarks. Training-time drift detection. Custom domain classifiers.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94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96AA"/>
                </a:solidFill>
                <a:latin typeface="JetBrains Mono"/>
              </a:rPr>
              <a:t>05 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68756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3EE887"/>
                </a:solidFill>
                <a:latin typeface="JetBrains Mono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3949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4ECF7"/>
                </a:solidFill>
                <a:latin typeface="Space Grotesk"/>
              </a:rPr>
              <a:t>Research &amp; education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72414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The first instrument that makes transformer computation visually intuitive in real time. Six annotated recordings ship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INTELLECTUAL PROPERTY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FOUR FILED US PROVISIONAL PATENTS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A protected stack across the system.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377440"/>
            <a:ext cx="530352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468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3EE887"/>
                </a:solidFill>
                <a:latin typeface="JetBrains Mono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4688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DEC 2025  ·  US 63/948,867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4ECF7"/>
                </a:solidFill>
                <a:latin typeface="Space Grotesk"/>
              </a:rPr>
              <a:t>Real-Time High-Fidelity Visualization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The instrument and 3D rendering pipeline.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0" y="2377440"/>
            <a:ext cx="530352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0" y="2468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3EE887"/>
                </a:solidFill>
                <a:latin typeface="JetBrains Mono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4688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FEB 2026  ·  US 63/975,787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346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4ECF7"/>
                </a:solidFill>
                <a:latin typeface="Space Grotesk"/>
              </a:rPr>
              <a:t>Geometric Monitoring &amp; Intervention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337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The intelligence layer — classification and causal control.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206240"/>
            <a:ext cx="530352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3EE887"/>
                </a:solidFill>
                <a:latin typeface="JetBrains Mono"/>
              </a:rP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2976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FEB 2026  ·  US 63/982,900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634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4ECF7"/>
                </a:solidFill>
                <a:latin typeface="Space Grotesk"/>
              </a:rPr>
              <a:t>Interactive Spectrographic Interface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663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EE887"/>
                </a:solidFill>
                <a:latin typeface="Space Grotesk"/>
              </a:rPr>
              <a:t>27 claims · 22 figures. </a:t>
            </a:r>
            <a:r>
              <a:rPr sz="1200" b="0" i="0">
                <a:solidFill>
                  <a:srgbClr val="8A96AA"/>
                </a:solidFill>
                <a:latin typeface="Space Grotesk"/>
              </a:rPr>
              <a:t>Passed legal review on first attempt.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4206240"/>
            <a:ext cx="530352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3EE887"/>
                </a:solidFill>
                <a:latin typeface="JetBrains Mono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2976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APR 2026  ·  US 64/039,169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6634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4ECF7"/>
                </a:solidFill>
                <a:latin typeface="Space Grotesk"/>
              </a:rPr>
              <a:t>Proprioceptive Inference Training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663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Training models to monitor their own internal state.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THE INVENTOR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13 / 15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828800"/>
            <a:ext cx="2560320" cy="2560320"/>
          </a:xfrm>
          <a:prstGeom prst="ellipse">
            <a:avLst/>
          </a:prstGeom>
          <a:solidFill>
            <a:srgbClr val="06080C"/>
          </a:solidFill>
          <a:ln w="25400">
            <a:solidFill>
              <a:srgbClr val="3EE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0" b="0" i="0">
                <a:solidFill>
                  <a:srgbClr val="E4ECF7"/>
                </a:solidFill>
                <a:latin typeface="Space Grotesk"/>
              </a:rPr>
              <a:t>CC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150">
                <a:solidFill>
                  <a:srgbClr val="8A96AA"/>
                </a:solidFill>
                <a:latin typeface="JetBrains Mono"/>
              </a:rPr>
              <a:t>COLLIN CIVISH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3EE887"/>
                </a:solidFill>
                <a:latin typeface="JetBrains Mono"/>
              </a:rPr>
              <a:t>SOLO  ·  INDEPENDENT  ·  SELF-FUNDED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7132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E4ECF7"/>
                </a:solidFill>
                <a:latin typeface="Space Grotesk"/>
              </a:rPr>
              <a:t>One person. Four months. Four patents.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52044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ECF7"/>
                </a:solidFill>
                <a:latin typeface="Space Grotesk"/>
              </a:rPr>
              <a:t>US Army veteran. Independent inventor. No team, no external funding. Trajectory from first experiment to four provisional filings in under four months.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0" y="4572000"/>
            <a:ext cx="685800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0" y="47548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7548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4ECF7"/>
                </a:solidFill>
                <a:latin typeface="Space Grotesk"/>
              </a:rPr>
              <a:t>Self-correction filing</a:t>
            </a:r>
            <a:r>
              <a:rPr sz="1100" b="0" i="0">
                <a:solidFill>
                  <a:srgbClr val="8A96AA"/>
                </a:solidFill>
                <a:latin typeface="Space Grotesk"/>
              </a:rPr>
              <a:t> one day after P2 — flagged statistical errors before any non-provisional.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2120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2120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4ECF7"/>
                </a:solidFill>
                <a:latin typeface="Space Grotesk"/>
              </a:rPr>
              <a:t>March 2026 audit</a:t>
            </a:r>
            <a:r>
              <a:rPr sz="1100" b="0" i="0">
                <a:solidFill>
                  <a:srgbClr val="8A96AA"/>
                </a:solidFill>
                <a:latin typeface="Space Grotesk"/>
              </a:rPr>
              <a:t> — a comprehensive claim-verification pass that downgraded several specific magnitudes.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6692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56692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4ECF7"/>
                </a:solidFill>
                <a:latin typeface="Space Grotesk"/>
              </a:rPr>
              <a:t>Both filings are public record</a:t>
            </a:r>
            <a:r>
              <a:rPr sz="1100" b="0" i="0">
                <a:solidFill>
                  <a:srgbClr val="8A96AA"/>
                </a:solidFill>
                <a:latin typeface="Space Grotesk"/>
              </a:rPr>
              <a:t> — epistemic discipline is part of the artifact.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STATUS &amp;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WHAT WE HAVE  ·  WHAT WE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E4ECF7"/>
                </a:solidFill>
                <a:latin typeface="Space Grotesk"/>
              </a:rPr>
              <a:t>Ready for pilots, capital, and partners.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377440"/>
            <a:ext cx="530352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468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WHAT EXISTS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Working prototype with live 3D visualization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12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Validation across 6 models, 4 architecture families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94176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4 filed US provisional patents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78224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6 annotated demo recordings on the public site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6227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Two structured pilot offerings, designed and ready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0" y="2377440"/>
            <a:ext cx="5303520" cy="0"/>
          </a:xfrm>
          <a:prstGeom prst="line">
            <a:avLst/>
          </a:prstGeom>
          <a:ln w="9525">
            <a:solidFill>
              <a:srgbClr val="3EE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0" y="2468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WHAT WE'RE ASKING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4ECF7"/>
                </a:solidFill>
                <a:latin typeface="Space Grotesk"/>
              </a:rPr>
              <a:t>Pilot partners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4612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Self-hosted-model deployments where geometric monitoring earns its keep — compliance, inference cost, hallucination reduction. 30-day instrumentation pilot or 3–4 week custom-classifier engagement.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404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4ECF7"/>
                </a:solidFill>
                <a:latin typeface="Space Grotesk"/>
              </a:rPr>
              <a:t>Capital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6052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Extend validation to 70B-parameter models. Harden the production stack.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754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4ECF7"/>
                </a:solidFill>
                <a:latin typeface="Space Grotesk"/>
              </a:rPr>
              <a:t>Strategic introductions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07492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Compliance buyers and inference-economics buyers, specifically.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6AA"/>
                </a:solidFill>
                <a:latin typeface="JetBrains Mono"/>
              </a:rPr>
              <a:t>— Honest scope: every result is on hookable models. Closed APIs without internal access need a different deployment story. Several specific magnitudes were audited downward in February — corrections are documented and reflected throughout this deck.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633264" y="1965960"/>
            <a:ext cx="2926080" cy="2926080"/>
          </a:xfrm>
          <a:prstGeom prst="ellipse">
            <a:avLst/>
          </a:prstGeom>
          <a:noFill/>
          <a:ln w="9525">
            <a:solidFill>
              <a:srgbClr val="164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901744" y="1234440"/>
            <a:ext cx="4389120" cy="4389120"/>
          </a:xfrm>
          <a:prstGeom prst="ellipse">
            <a:avLst/>
          </a:prstGeom>
          <a:noFill/>
          <a:ln w="9525">
            <a:solidFill>
              <a:srgbClr val="164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70224" y="502920"/>
            <a:ext cx="5852160" cy="5852160"/>
          </a:xfrm>
          <a:prstGeom prst="ellipse">
            <a:avLst/>
          </a:prstGeom>
          <a:noFill/>
          <a:ln w="9525">
            <a:solidFill>
              <a:srgbClr val="164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38704" y="-228600"/>
            <a:ext cx="7315200" cy="7315200"/>
          </a:xfrm>
          <a:prstGeom prst="ellipse">
            <a:avLst/>
          </a:prstGeom>
          <a:noFill/>
          <a:ln w="9525">
            <a:solidFill>
              <a:srgbClr val="164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07184" y="-960120"/>
            <a:ext cx="8778240" cy="8778240"/>
          </a:xfrm>
          <a:prstGeom prst="ellipse">
            <a:avLst/>
          </a:prstGeom>
          <a:noFill/>
          <a:ln w="9525">
            <a:solidFill>
              <a:srgbClr val="164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3EE887"/>
                </a:solidFill>
                <a:latin typeface="JetBrains Mono"/>
              </a:rPr>
              <a:t>GHOSTLINE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064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i="0">
                <a:solidFill>
                  <a:srgbClr val="E4ECF7"/>
                </a:solidFill>
                <a:latin typeface="Space Grotesk"/>
              </a:rPr>
              <a:t>Read the geometry.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i="0">
                <a:solidFill>
                  <a:srgbClr val="3EE887"/>
                </a:solidFill>
                <a:latin typeface="Space Grotesk"/>
              </a:rPr>
              <a:t>Read the future.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8A96AA"/>
                </a:solidFill>
                <a:latin typeface="Newsreader"/>
              </a:rPr>
              <a:t>A real-time monitoring instrument for what your model is about to 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A96AA"/>
                </a:solidFill>
                <a:latin typeface="JetBrains Mono"/>
              </a:rPr>
              <a:t>Collin Civish</a:t>
            </a:r>
            <a:r>
              <a:rPr sz="1100" b="0" i="0">
                <a:solidFill>
                  <a:srgbClr val="5A6478"/>
                </a:solidFill>
                <a:latin typeface="JetBrains Mono"/>
              </a:rPr>
              <a:t>    ·    </a:t>
            </a:r>
            <a:r>
              <a:rPr sz="1100" b="0" i="0">
                <a:solidFill>
                  <a:srgbClr val="8A96AA"/>
                </a:solidFill>
                <a:latin typeface="JetBrains Mono"/>
              </a:rPr>
              <a:t>Independent inventor</a:t>
            </a:r>
            <a:r>
              <a:rPr sz="1100" b="0" i="0">
                <a:solidFill>
                  <a:srgbClr val="5A6478"/>
                </a:solidFill>
                <a:latin typeface="JetBrains Mono"/>
              </a:rPr>
              <a:t>    ·    </a:t>
            </a:r>
            <a:r>
              <a:rPr sz="1100" b="0" i="0">
                <a:solidFill>
                  <a:srgbClr val="3EE887"/>
                </a:solidFill>
                <a:latin typeface="JetBrains Mono"/>
              </a:rPr>
              <a:t>ghostline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4255" y="63093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015 / 015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